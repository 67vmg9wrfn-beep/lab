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PPG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Participants</c:v>
                </c:pt>
                <c:pt idx="1">
                  <c:v>Segments (M)</c:v>
                </c:pt>
                <c:pt idx="2">
                  <c:v>Avg days/participant</c:v>
                </c:pt>
                <c:pt idx="3">
                  <c:v>Total span (days)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141.207</c:v>
                </c:pt>
                <c:pt idx="1">
                  <c:v>19.854</c:v>
                </c:pt>
                <c:pt idx="2">
                  <c:v>92.54</c:v>
                </c:pt>
                <c:pt idx="3">
                  <c:v>890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ECG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Participants</c:v>
                </c:pt>
                <c:pt idx="1">
                  <c:v>Segments (M)</c:v>
                </c:pt>
                <c:pt idx="2">
                  <c:v>Avg days/participant</c:v>
                </c:pt>
                <c:pt idx="3">
                  <c:v>Total span (days)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106.643</c:v>
                </c:pt>
                <c:pt idx="1">
                  <c:v>3.744</c:v>
                </c:pt>
                <c:pt idx="2">
                  <c:v>23.27</c:v>
                </c:pt>
                <c:pt idx="3">
                  <c:v>1240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PPG SER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Ours</c:v>
                </c:pt>
                <c:pt idx="1">
                  <c:v>Ours(no KoLeo)</c:v>
                </c:pt>
                <c:pt idx="2">
                  <c:v>SimCLR(var)</c:v>
                </c:pt>
                <c:pt idx="3">
                  <c:v>BYOL(var)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104.13</c:v>
                </c:pt>
                <c:pt idx="1">
                  <c:v>101.29</c:v>
                </c:pt>
                <c:pt idx="2">
                  <c:v>98.87</c:v>
                </c:pt>
                <c:pt idx="3">
                  <c:v>51.18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ECG SER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Ours</c:v>
                </c:pt>
                <c:pt idx="1">
                  <c:v>Ours(no KoLeo)</c:v>
                </c:pt>
                <c:pt idx="2">
                  <c:v>SimCLR(var)</c:v>
                </c:pt>
                <c:pt idx="3">
                  <c:v>BYOL(var)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113.82</c:v>
                </c:pt>
                <c:pt idx="1">
                  <c:v>108.84</c:v>
                </c:pt>
                <c:pt idx="2">
                  <c:v>103.65</c:v>
                </c:pt>
                <c:pt idx="3">
                  <c:v>63.67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开场：强调这不是单任务模型，而是平台级训练框架。</a:t>
            </a:r>
          </a:p>
          <a:p>
            <a:r>
              <a:t>重点数据规模和可迁移性。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把这篇文章映射到监护设备研发流程。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强调参与者级划分是验证可信性的关键。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这里对应你们的算法架构图：数据层、表征层、任务层。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这页可直接给算法工程师做训练配置模板。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核心结论：正样本对选择策略是高杠杆设计点。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这页是方法论：多参数监护系统要分模态策略。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说明：SER是proxy，不等价于临床终点表现。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对设备端部署：先做EfficientNet系，再评估ViT收益是否值得。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这是给你们团队最可执行的一页。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如果需要，我可以把这页再拆成甘特图版本。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这页用于管理层预期管理和风险沟通。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收尾聚焦：从单篇论文转化为你的团队执行方法。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作为答疑备用页。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Cambria"/>
              </a:defRPr>
            </a:pPr>
            <a:r>
              <a:t>Large-Scale Training of Foundation Models for Wearable Biosignals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618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EE6F0"/>
                </a:solidFill>
                <a:latin typeface="Calibri"/>
              </a:defRPr>
            </a:pPr>
            <a:r>
              <a:t>ICLR 2024 · Apple · Focus: PPG/ECG AI pipeline for device-grade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78638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E8F0F8"/>
                </a:solidFill>
                <a:latin typeface="Calibri"/>
              </a:defRPr>
            </a:pPr>
            <a:r>
              <a:t>From sparse labels -&gt; self-supervised pretraining on longitudinal wearable data</a:t>
            </a:r>
          </a:p>
          <a:p>
            <a:pPr>
              <a:spcAft>
                <a:spcPts val="800"/>
              </a:spcAft>
              <a:defRPr sz="2100">
                <a:solidFill>
                  <a:srgbClr val="E8F0F8"/>
                </a:solidFill>
                <a:latin typeface="Calibri"/>
              </a:defRPr>
            </a:pPr>
            <a:r>
              <a:t>141,207 participants, ~20M PPG segments, ~3.75M ECG segments</a:t>
            </a:r>
          </a:p>
          <a:p>
            <a:pPr>
              <a:spcAft>
                <a:spcPts val="800"/>
              </a:spcAft>
              <a:defRPr sz="2100">
                <a:solidFill>
                  <a:srgbClr val="E8F0F8"/>
                </a:solidFill>
                <a:latin typeface="Calibri"/>
              </a:defRPr>
            </a:pPr>
            <a:r>
              <a:t>Reusable framework for algorithm architecture, training, and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1120" y="1645920"/>
            <a:ext cx="2560320" cy="338328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1874519"/>
            <a:ext cx="201168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FFFFF"/>
                </a:solidFill>
                <a:latin typeface="Calibri"/>
              </a:defRPr>
            </a:pPr>
            <a:r>
              <a:t>141K</a:t>
            </a:r>
          </a:p>
          <a:p>
            <a:pPr>
              <a:defRPr b="0" sz="1400">
                <a:solidFill>
                  <a:srgbClr val="FFFFFF"/>
                </a:solidFill>
                <a:latin typeface="Calibri"/>
              </a:defRPr>
            </a:pPr>
            <a:r>
              <a:t>Participants</a:t>
            </a:r>
          </a:p>
          <a:p>
            <a:pPr>
              <a:defRPr b="1" sz="3000">
                <a:solidFill>
                  <a:srgbClr val="FFFFFF"/>
                </a:solidFill>
                <a:latin typeface="Calibri"/>
              </a:defRPr>
            </a:pPr>
            <a:r>
              <a:t>20M</a:t>
            </a:r>
          </a:p>
          <a:p>
            <a:pPr>
              <a:defRPr b="0" sz="1400">
                <a:solidFill>
                  <a:srgbClr val="FFFFFF"/>
                </a:solidFill>
                <a:latin typeface="Calibri"/>
              </a:defRPr>
            </a:pPr>
            <a:r>
              <a:t>PPG Segments</a:t>
            </a:r>
          </a:p>
          <a:p>
            <a:pPr>
              <a:defRPr b="1" sz="3000">
                <a:solidFill>
                  <a:srgbClr val="FFFFFF"/>
                </a:solidFill>
                <a:latin typeface="Calibri"/>
              </a:defRPr>
            </a:pPr>
            <a:r>
              <a:t>3.75M</a:t>
            </a:r>
          </a:p>
          <a:p>
            <a:pPr>
              <a:defRPr b="0" sz="1400">
                <a:solidFill>
                  <a:srgbClr val="FFFFFF"/>
                </a:solidFill>
                <a:latin typeface="Calibri"/>
              </a:defRPr>
            </a:pPr>
            <a:r>
              <a:t>ECG Segments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676"/>
                </a:solidFill>
                <a:latin typeface="Calibri"/>
              </a:defRPr>
            </a:pPr>
            <a:r>
              <a:t>Source: Abbaspourazad et al., ICLR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E2440"/>
                </a:solidFill>
                <a:latin typeface="Cambria"/>
              </a:defRPr>
            </a:pPr>
            <a:r>
              <a:t>Why This Matters for Monitoring Device Teams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36576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6002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Calibri"/>
              </a:defRPr>
            </a:pPr>
            <a:r>
              <a:t>Engineering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1993392"/>
            <a:ext cx="3291840" cy="1353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Clinical labels are expensive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Signal quality is variable in free-living data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Task-by-task model development does not scale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463040"/>
            <a:ext cx="36576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9160" y="16002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Calibri"/>
              </a:defRPr>
            </a:pPr>
            <a:r>
              <a:t>Paper's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993392"/>
            <a:ext cx="3291840" cy="1353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Pretrain on unlabeled longitudinal biosignals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Transfer embeddings to many downstream tasks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Reduce dependence on dense labels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463040"/>
            <a:ext cx="3108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59" y="1600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Calibri"/>
              </a:defRPr>
            </a:pPr>
            <a:r>
              <a:t>Why You Care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59" y="1993392"/>
            <a:ext cx="2743200" cy="1353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Applicable to ECG/PPG/BP/SpO2 pipelines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Supports architecture reuse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Improves time-to-validation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40480"/>
            <a:ext cx="107899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202C"/>
                </a:solidFill>
                <a:latin typeface="Calibri"/>
              </a:defRPr>
            </a:pPr>
            <a:r>
              <a:t>Core thesis: representation quality is a first-class product artifact</a:t>
            </a:r>
          </a:p>
          <a:p>
            <a:pPr>
              <a:spcAft>
                <a:spcPts val="800"/>
              </a:spcAft>
              <a:defRPr sz="2000">
                <a:solidFill>
                  <a:srgbClr val="1A202C"/>
                </a:solidFill>
                <a:latin typeface="Calibri"/>
              </a:defRPr>
            </a:pPr>
            <a:r>
              <a:t>Practical impact: one pretrained encoder can service multiple biomarker heads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676"/>
                </a:solidFill>
                <a:latin typeface="Calibri"/>
              </a:defRPr>
            </a:pPr>
            <a:r>
              <a:t>Framework lens: data -&gt; SSL pretraining -&gt; downstream validation -&gt;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E2440"/>
                </a:solidFill>
                <a:latin typeface="Cambria"/>
              </a:defRPr>
            </a:pPr>
            <a:r>
              <a:t>Dataset and Study Design (AHMS)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645920"/>
          <a:ext cx="713232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138160" y="173736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0" y="1874519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Calibri"/>
              </a:defRPr>
            </a:pPr>
            <a:r>
              <a:t>Data 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2267712"/>
            <a:ext cx="3200400" cy="3456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PPG: 60s segments @ 64/256Hz, 4 optical channels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ECG: 30s lead-I strips @ 512Hz -&gt; 128Hz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Split: 80/10/10 by participants (no overlap)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Informed consent + ongoing longitudinal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676"/>
                </a:solidFill>
                <a:latin typeface="Calibri"/>
              </a:defRPr>
            </a:pPr>
            <a:r>
              <a:t>Table 1 from the paper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E2440"/>
                </a:solidFill>
                <a:latin typeface="Cambria"/>
              </a:defRPr>
            </a:pPr>
            <a:r>
              <a:t>Pretraining Pipeline (System View)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920240"/>
            <a:ext cx="20116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574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Calibri"/>
              </a:defRPr>
            </a:pPr>
            <a:r>
              <a:t>1) Segment Curation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450592"/>
            <a:ext cx="1645920" cy="2633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Balance per participant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Minimum segments constraint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1920240"/>
            <a:ext cx="20116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20574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Calibri"/>
              </a:defRPr>
            </a:pPr>
            <a:r>
              <a:t>2) Stochastic Augmentation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450592"/>
            <a:ext cx="1645920" cy="2633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Cutout / warp / noise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Different strengths for PPG vs ECG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1920240"/>
            <a:ext cx="20116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20574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Calibri"/>
              </a:defRPr>
            </a:pPr>
            <a:r>
              <a:t>3) Encoder + Projection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450592"/>
            <a:ext cx="1645920" cy="2633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1D EfficientNet backbone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256-d embedding -&gt; 128-d projection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920240"/>
            <a:ext cx="20116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0574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Calibri"/>
              </a:defRPr>
            </a:pPr>
            <a:r>
              <a:t>4) Regularized InfoNCE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450592"/>
            <a:ext cx="1645920" cy="2633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Contrastive + KoLeo entropy reg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L2-normalized embeddings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66960" y="1920240"/>
            <a:ext cx="20116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40" y="20574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Calibri"/>
              </a:defRPr>
            </a:pPr>
            <a:r>
              <a:t>5) Momentum Update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2450592"/>
            <a:ext cx="1645920" cy="2633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EMA target branch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Stabilize representation learning</a:t>
            </a:r>
          </a:p>
        </p:txBody>
      </p:sp>
      <p:sp>
        <p:nvSpPr>
          <p:cNvPr id="18" name="Chevron 17"/>
          <p:cNvSpPr/>
          <p:nvPr/>
        </p:nvSpPr>
        <p:spPr>
          <a:xfrm>
            <a:off x="2743200" y="3246120"/>
            <a:ext cx="274320" cy="457200"/>
          </a:xfrm>
          <a:prstGeom prst="chevron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5029200" y="3246120"/>
            <a:ext cx="274320" cy="457200"/>
          </a:xfrm>
          <a:prstGeom prst="chevron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evron 19"/>
          <p:cNvSpPr/>
          <p:nvPr/>
        </p:nvSpPr>
        <p:spPr>
          <a:xfrm>
            <a:off x="7315200" y="3246120"/>
            <a:ext cx="274320" cy="457200"/>
          </a:xfrm>
          <a:prstGeom prst="chevron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evron 20"/>
          <p:cNvSpPr/>
          <p:nvPr/>
        </p:nvSpPr>
        <p:spPr>
          <a:xfrm>
            <a:off x="9601200" y="3246120"/>
            <a:ext cx="274320" cy="457200"/>
          </a:xfrm>
          <a:prstGeom prst="chevron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676"/>
                </a:solidFill>
                <a:latin typeface="Calibri"/>
              </a:defRPr>
            </a:pPr>
            <a:r>
              <a:t>Algorithmic flow reconstructed from Sections 3-4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E2440"/>
                </a:solidFill>
                <a:latin typeface="Cambria"/>
              </a:defRPr>
            </a:pPr>
            <a:r>
              <a:t>Objective Function and Augmentation Policy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669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39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Calibri"/>
              </a:defRPr>
            </a:pPr>
            <a:r>
              <a:t>Loss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84831"/>
            <a:ext cx="5303520" cy="14447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L = InfoNCE + KoLeo regularization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Temperature = 0.04, KoLeo weight = 0.1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32x A100 GPUs, Adam optimizer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669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97764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70832"/>
            <a:ext cx="5303520" cy="1536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InfoNCE aligns positive pairs and separates negatives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KoLeo increases embedding entropy / spread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Momentum branch improves stability for ECG-like low-variability signals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554480"/>
            <a:ext cx="47548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691639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Calibri"/>
              </a:defRPr>
            </a:pPr>
            <a:r>
              <a:t>Augmentation probabilities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084831"/>
            <a:ext cx="4389120" cy="3822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PPG: cutout 0.4, mag-warp 0.25, noise 0.25,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      channel permute 0.25, time-warp 0.15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ECG: cutout 0.8, mag-warp 0.5, noise 0.5,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      time-warp 0.3 (no channel permute)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Interpretation: ECG gets stronger distortion because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within-participant variability is lower than PPG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676"/>
                </a:solidFill>
                <a:latin typeface="Calibri"/>
              </a:defRPr>
            </a:pPr>
            <a:r>
              <a:t>Section 3 + implementation details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E2440"/>
                </a:solidFill>
                <a:latin typeface="Cambria"/>
              </a:defRPr>
            </a:pPr>
            <a:r>
              <a:t>Downstream Results: Participant-level Positive Pairs Win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972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39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Calibri"/>
              </a:defRPr>
            </a:pPr>
            <a:r>
              <a:t>Table 2 headline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84831"/>
            <a:ext cx="10607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Switching from segment-level to participant-level pairs materially improves PPG and ECG downstream metrics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53035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Calibri"/>
              </a:defRPr>
            </a:pPr>
            <a:r>
              <a:t>PPG (participant-level)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82112"/>
            <a:ext cx="4937759" cy="2542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Age cls AUC 0.976 (vs 0.900 segment-level)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Age reg MAE 3.19 (vs 6.60)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BMI cls AUC 0.918 (vs 0.766)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BMI reg MAE 2.54 (vs 4.05)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Sex cls AUC 0.993 (vs 0.870)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651760"/>
            <a:ext cx="53035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788920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Calibri"/>
              </a:defRPr>
            </a:pPr>
            <a:r>
              <a:t>ECG (participant-level)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182112"/>
            <a:ext cx="4937759" cy="2542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Age cls AUC 0.916 (vs 0.783 segment-level)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Age reg MAE 6.33 (vs 9.01)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BMI cls AUC 0.797 (vs 0.734)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BMI reg MAE 3.72 (vs 4.11)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Sex cls AUC 0.951 (vs 0.854)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676"/>
                </a:solidFill>
                <a:latin typeface="Calibri"/>
              </a:defRPr>
            </a:pPr>
            <a:r>
              <a:t>Direct numbers from Table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E2440"/>
                </a:solidFill>
                <a:latin typeface="Cambria"/>
              </a:defRPr>
            </a:pPr>
            <a:r>
              <a:t>PPG vs ECG: Representation Behavior Differences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749039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3383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Calibri"/>
              </a:defRPr>
            </a:pPr>
            <a:r>
              <a:t>Observed in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76272"/>
            <a:ext cx="3383279" cy="3639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ECG clusters are denser in t-SNE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ECG InfoNCE loss is lower (easier pretraining)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ECG dispersion ratio is smaller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Yet PPG embeddings better predict many health targets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645920"/>
            <a:ext cx="34747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17830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Calibri"/>
              </a:defRPr>
            </a:pPr>
            <a:r>
              <a:t>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2176272"/>
            <a:ext cx="3108960" cy="3639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Signal modality matters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A single SSL recipe may not be globally optimal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Need modality-aware augmentation and objectives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645920"/>
            <a:ext cx="3566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7830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Calibri"/>
              </a:defRPr>
            </a:pPr>
            <a:r>
              <a:t>Device-team implication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176272"/>
            <a:ext cx="3200400" cy="3639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Do not assume one encoder policy fits all parameters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Set separate training policies for PPG/ECG/BP/SpO2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Track modality-specific validation dashboards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676"/>
                </a:solidFill>
                <a:latin typeface="Calibri"/>
              </a:defRPr>
            </a:pPr>
            <a:r>
              <a:t>Section 5.2.2 discussion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E2440"/>
                </a:solidFill>
                <a:latin typeface="Cambria"/>
              </a:defRPr>
            </a:pPr>
            <a:r>
              <a:t>Ablation: Pretraining Framework Comparison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645920"/>
          <a:ext cx="73152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321040" y="164592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19" y="17830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Calibri"/>
              </a:defRPr>
            </a:pPr>
            <a:r>
              <a:t>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19" y="2176272"/>
            <a:ext cx="3108960" cy="3822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Their framework &gt; SimCLR/BYOL variations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KoLeo contributes measurable gains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Contrastive approaches were more robust here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Unsupervised proxy metrics are helpful but not sufficient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676"/>
                </a:solidFill>
                <a:latin typeface="Calibri"/>
              </a:defRPr>
            </a:pPr>
            <a:r>
              <a:t>Table 3 (smooth effective rank)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E2440"/>
                </a:solidFill>
                <a:latin typeface="Cambria"/>
              </a:defRPr>
            </a:pPr>
            <a:r>
              <a:t>Ablation: Encoder Architecture vs Footprint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6576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Calibri"/>
              </a:defRPr>
            </a:pPr>
            <a:r>
              <a:t>1D-EfficientNet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76272"/>
            <a:ext cx="3291840" cy="3730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PPG SER 104.13 / ECG SER 113.82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Params: 3.3M (PPG), 2.5M (ECG)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Best efficiency-performance tradeoff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645920"/>
            <a:ext cx="36576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9160" y="178308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Calibri"/>
              </a:defRPr>
            </a:pPr>
            <a:r>
              <a:t>1D-ResNet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2176272"/>
            <a:ext cx="3291840" cy="3730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PPG SER 95.81 / ECG SER 111.92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Params: 16.9M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Larger but not clearly better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645920"/>
            <a:ext cx="3566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19" y="17830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Calibri"/>
              </a:defRPr>
            </a:pPr>
            <a:r>
              <a:t>1D-ViT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176272"/>
            <a:ext cx="3200400" cy="3730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PPG SER 104.89 / ECG SER 114.62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Params: 7.2M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Good performance, higher compute/memory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676"/>
                </a:solidFill>
                <a:latin typeface="Calibri"/>
              </a:defRPr>
            </a:pPr>
            <a:r>
              <a:t>Table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E2440"/>
                </a:solidFill>
                <a:latin typeface="Cambria"/>
              </a:defRPr>
            </a:pPr>
            <a:r>
              <a:t>How to Reuse This as a Monitoring Algorithm Verification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7432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Calibri"/>
              </a:defRPr>
            </a:pPr>
            <a:r>
              <a:t>Layer 1</a:t>
            </a:r>
            <a:br/>
            <a:r>
              <a:t>Representation QA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76272"/>
            <a:ext cx="2377440" cy="3822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SER / embedding drift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Modality-specific pretraining loss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Within-vs-across subject dispersion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645920"/>
            <a:ext cx="27432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0" y="17830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Calibri"/>
              </a:defRPr>
            </a:pPr>
            <a:r>
              <a:t>Layer 2</a:t>
            </a:r>
            <a:br/>
            <a:r>
              <a:t>Task QA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176272"/>
            <a:ext cx="2377440" cy="3822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Linear probes for key biomarkers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Primary metrics + calibration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Subgroup metrics by age/sex/BMI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645920"/>
            <a:ext cx="27432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7830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Calibri"/>
              </a:defRPr>
            </a:pPr>
            <a:r>
              <a:t>Layer 3</a:t>
            </a:r>
            <a:br/>
            <a:r>
              <a:t>Robustness QA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176272"/>
            <a:ext cx="2377440" cy="3822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Distribution shift slices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Missingness / label shift checks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Sensor-quality stress 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1645920"/>
            <a:ext cx="23774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0" y="17830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Calibri"/>
              </a:defRPr>
            </a:pPr>
            <a:r>
              <a:t>Layer 4</a:t>
            </a:r>
            <a:br/>
            <a:r>
              <a:t>Deployment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2176272"/>
            <a:ext cx="2011680" cy="3822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Latency &amp; power budget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On-device memory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Post-market drift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676"/>
                </a:solidFill>
                <a:latin typeface="Calibri"/>
              </a:defRPr>
            </a:pPr>
            <a:r>
              <a:t>Adapted for ECG/BP/SpO2/PPG/temp product pipelines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E2440"/>
                </a:solidFill>
                <a:latin typeface="Cambria"/>
              </a:defRPr>
            </a:pPr>
            <a:r>
              <a:t>90-Day Adoption Roadmap (For Your Team)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3566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Calibri"/>
              </a:defRPr>
            </a:pPr>
            <a:r>
              <a:t>Phase 1 (Weeks 1-3)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67712"/>
            <a:ext cx="3200400" cy="3639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Build unified biosignal data contract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Define PPG/ECG/BP/SpO2/temp segmentation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Set participant-level train/val/test governance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737360"/>
            <a:ext cx="3566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9160" y="1874519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Calibri"/>
              </a:defRPr>
            </a:pPr>
            <a:r>
              <a:t>Phase 2 (Weeks 4-7)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2267712"/>
            <a:ext cx="3200400" cy="3639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Pretrain baseline encoder(s)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Run linear probe matrix for core biomarkers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Establish subgroup and shift dashboards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737360"/>
            <a:ext cx="3566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19" y="1874519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Calibri"/>
              </a:defRPr>
            </a:pPr>
            <a:r>
              <a:t>Phase 3 (Weeks 8-12)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267712"/>
            <a:ext cx="3200400" cy="3639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Task heads + calibration + thresholds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On-device profiling (latency/power)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Pilot deployment + drift alert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676"/>
                </a:solidFill>
                <a:latin typeface="Calibri"/>
              </a:defRPr>
            </a:pPr>
            <a:r>
              <a:t>A practical translation of the paper into product execution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E2440"/>
                </a:solidFill>
                <a:latin typeface="Cambria"/>
              </a:defRPr>
            </a:pPr>
            <a:r>
              <a:t>Known Limits and What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202C"/>
                </a:solidFill>
                <a:latin typeface="Calibri"/>
              </a:defRPr>
            </a:pPr>
            <a:r>
              <a:t>Self-reported labels were used for many downstream targets (label quality ceiling)</a:t>
            </a:r>
          </a:p>
          <a:p>
            <a:pPr>
              <a:spcAft>
                <a:spcPts val="800"/>
              </a:spcAft>
              <a:defRPr sz="2000">
                <a:solidFill>
                  <a:srgbClr val="1A202C"/>
                </a:solidFill>
                <a:latin typeface="Calibri"/>
              </a:defRPr>
            </a:pPr>
            <a:r>
              <a:t>Sensor-level raw data/code sharing is constrained by privacy/consent policies</a:t>
            </a:r>
          </a:p>
          <a:p>
            <a:pPr>
              <a:spcAft>
                <a:spcPts val="800"/>
              </a:spcAft>
              <a:defRPr sz="2000">
                <a:solidFill>
                  <a:srgbClr val="1A202C"/>
                </a:solidFill>
                <a:latin typeface="Calibri"/>
              </a:defRPr>
            </a:pPr>
            <a:r>
              <a:t>Embedding quality proxies (SER/InfoNCE) correlate with downstream metrics but are not sufficient</a:t>
            </a:r>
          </a:p>
          <a:p>
            <a:pPr>
              <a:spcAft>
                <a:spcPts val="800"/>
              </a:spcAft>
              <a:defRPr sz="2000">
                <a:solidFill>
                  <a:srgbClr val="1A202C"/>
                </a:solidFill>
                <a:latin typeface="Calibri"/>
              </a:defRPr>
            </a:pPr>
            <a:r>
              <a:t>Modality heterogeneity means one-size-fits-all training policy can underperform</a:t>
            </a:r>
          </a:p>
          <a:p>
            <a:pPr>
              <a:spcAft>
                <a:spcPts val="800"/>
              </a:spcAft>
              <a:defRPr sz="2000">
                <a:solidFill>
                  <a:srgbClr val="1A202C"/>
                </a:solidFill>
                <a:latin typeface="Calibri"/>
              </a:defRPr>
            </a:pPr>
            <a:r>
              <a:t>Clinical-grade use still needs independent external validation and regulatory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5486400"/>
            <a:ext cx="10881360" cy="822960"/>
          </a:xfrm>
          <a:prstGeom prst="roundRect">
            <a:avLst/>
          </a:prstGeom>
          <a:solidFill>
            <a:srgbClr val="FFF4E6"/>
          </a:solidFill>
          <a:ln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784813"/>
                </a:solidFill>
                <a:latin typeface="Calibri"/>
              </a:defRPr>
            </a:pPr>
            <a:r>
              <a:t>Recommendation: treat this paper as a strong engineering blueprint, not as a standalone clinical validation package.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676"/>
                </a:solidFill>
                <a:latin typeface="Calibri"/>
              </a:defRPr>
            </a:pPr>
            <a:r>
              <a:t>Section 6 + reproducibility statement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Cambria"/>
              </a:defRPr>
            </a:pPr>
            <a:r>
              <a:t>Final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618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EE6F0"/>
                </a:solidFill>
                <a:latin typeface="Calibri"/>
              </a:defRPr>
            </a:pPr>
            <a:r>
              <a:t>How Apple’s experience can inform your monitoring AI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7899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EAF2FC"/>
                </a:solidFill>
                <a:latin typeface="Calibri"/>
              </a:defRPr>
            </a:pPr>
            <a:r>
              <a:t>Use representation learning as a shared backbone for multi-parameter monitoring</a:t>
            </a:r>
          </a:p>
          <a:p>
            <a:pPr>
              <a:spcAft>
                <a:spcPts val="800"/>
              </a:spcAft>
              <a:defRPr sz="2400">
                <a:solidFill>
                  <a:srgbClr val="EAF2FC"/>
                </a:solidFill>
                <a:latin typeface="Calibri"/>
              </a:defRPr>
            </a:pPr>
            <a:r>
              <a:t>Prioritize participant-level data governance and split strategy</a:t>
            </a:r>
          </a:p>
          <a:p>
            <a:pPr>
              <a:spcAft>
                <a:spcPts val="800"/>
              </a:spcAft>
              <a:defRPr sz="2400">
                <a:solidFill>
                  <a:srgbClr val="EAF2FC"/>
                </a:solidFill>
                <a:latin typeface="Calibri"/>
              </a:defRPr>
            </a:pPr>
            <a:r>
              <a:t>Design modality-specific training recipes (PPG != ECG != BP/SpO2/temp)</a:t>
            </a:r>
          </a:p>
          <a:p>
            <a:pPr>
              <a:spcAft>
                <a:spcPts val="800"/>
              </a:spcAft>
              <a:defRPr sz="2400">
                <a:solidFill>
                  <a:srgbClr val="EAF2FC"/>
                </a:solidFill>
                <a:latin typeface="Calibri"/>
              </a:defRPr>
            </a:pPr>
            <a:r>
              <a:t>Institutionalize a layered validation stack before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778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BFA6"/>
                </a:solidFill>
                <a:latin typeface="Calibri"/>
              </a:defRPr>
            </a:pPr>
            <a:r>
              <a:t>Next step: run an internal pilot on your own ECG/PPG/BP datasets with this exact framework scaffold.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676"/>
                </a:solidFill>
                <a:latin typeface="Calibri"/>
              </a:defRPr>
            </a:pPr>
            <a:r>
              <a:t>Prepared from: Abbaspourazad et al., ICLR 2024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E2440"/>
                </a:solidFill>
                <a:latin typeface="Cambria"/>
              </a:defRPr>
            </a:pPr>
            <a:r>
              <a:t>Appendix: Key Numbers Reference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Calibri"/>
              </a:defRPr>
            </a:pPr>
            <a:r>
              <a:t>Paper constants used in this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76272"/>
            <a:ext cx="5120640" cy="3730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Participants: PPG 141,207 | ECG 106,643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Segments: PPG 19,854,101 | ECG 3,743,679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Encoder params: 3.3M (PPG), 2.5M (ECG)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Train split: 80/10/10 by participant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InfoNCE temp 0.04, KoLeo weight 0.1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Compute: 32 x A100 GPUs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783080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440"/>
                </a:solidFill>
                <a:latin typeface="Calibri"/>
              </a:defRPr>
            </a:pPr>
            <a:r>
              <a:t>Top quantitative outcomes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176272"/>
            <a:ext cx="4754879" cy="3730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PPG age cls AUC: 0.976 (participant-level pairing)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ECG age cls AUC: 0.916 (participant-level pairing)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PPG sex cls AUC: 0.993 | ECG sex cls AUC: 0.951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SER best: Ours &gt; Ours(no KoLeo) &gt; SimCLR &gt; BYOL</a:t>
            </a:r>
          </a:p>
          <a:p>
            <a:pPr>
              <a:spcAft>
                <a:spcPts val="4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PPG embeddings generally outperformed baseline feature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676"/>
                </a:solidFill>
                <a:latin typeface="Calibri"/>
              </a:defRPr>
            </a:pPr>
            <a:r>
              <a:t>All values from extracted paper text/table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