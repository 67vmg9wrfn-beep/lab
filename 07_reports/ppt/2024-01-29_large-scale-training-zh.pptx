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大规模可穿戴生理信号基础模型训练框架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E6F0"/>
                </a:solidFill>
                <a:latin typeface="Microsoft YaHei"/>
              </a:defRPr>
            </a:pPr>
            <a:r>
              <a:t>基于 ICLR 2024（Apple）论文的监护设备算法解读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E8F0F8"/>
                </a:solidFill>
                <a:latin typeface="Microsoft YaHei"/>
              </a:defRPr>
            </a:pPr>
            <a:r>
              <a:t>目标：从“标签稀缺”走向“可复用算法底座”</a:t>
            </a:r>
          </a:p>
          <a:p>
            <a:pPr>
              <a:spcAft>
                <a:spcPts val="600"/>
              </a:spcAft>
              <a:defRPr sz="2200">
                <a:solidFill>
                  <a:srgbClr val="E8F0F8"/>
                </a:solidFill>
                <a:latin typeface="Microsoft YaHei"/>
              </a:defRPr>
            </a:pPr>
            <a:r>
              <a:t>数据规模：141,207人，约20M PPG片段，约3.75M ECG片段</a:t>
            </a:r>
          </a:p>
          <a:p>
            <a:pPr>
              <a:spcAft>
                <a:spcPts val="600"/>
              </a:spcAft>
              <a:defRPr sz="2200">
                <a:solidFill>
                  <a:srgbClr val="E8F0F8"/>
                </a:solidFill>
                <a:latin typeface="Microsoft YaHei"/>
              </a:defRPr>
            </a:pPr>
            <a:r>
              <a:t>适用：心电、PPG、血氧、血压、体温等多参数监护AI管线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1645920"/>
            <a:ext cx="2560320" cy="34747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1828800"/>
            <a:ext cx="2103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141K</a:t>
            </a:r>
          </a:p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参与者</a:t>
            </a:r>
          </a:p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20M</a:t>
            </a:r>
          </a:p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PPG片段</a:t>
            </a:r>
          </a:p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3.75M</a:t>
            </a:r>
          </a:p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ECG片段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Microsoft YaHei"/>
              </a:defRPr>
            </a:pPr>
            <a:r>
              <a:t>来源：Abbaspourazad et al., ICLR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Microsoft YaHei"/>
              </a:defRPr>
            </a:pPr>
            <a:r>
              <a:t>这篇论文为什么值得监护设备团队重点看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39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行业痛点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329184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医疗标签贵且慢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自由生活场景噪声大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单任务模型开发效率低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691639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论文解法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21408"/>
            <a:ext cx="329184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无监督预训练构建表征底座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一套编码器服务多任务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减少对高质量标签依赖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55448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59" y="1691639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你的收益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2121408"/>
            <a:ext cx="283464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缩短算法迭代周期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统一训练-验证方法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更容易做跨参数迁移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A202C"/>
                </a:solidFill>
                <a:latin typeface="Microsoft YaHei"/>
              </a:defRPr>
            </a:pPr>
            <a:r>
              <a:t>核心思想：先学“通用生理表示”，再做任务头微调。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Microsoft YaHei"/>
              </a:defRPr>
            </a:pPr>
            <a:r>
              <a:t>框架视角：数据 -&gt; 预训练 -&gt; 下游任务 -&gt; 验证 -&gt; 部署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Microsoft YaHei"/>
              </a:defRPr>
            </a:pPr>
            <a:r>
              <a:t>数据与研究设置（AHMS）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577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212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数据规模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5212079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PPG：141,207人，19,854,101片段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ECG：106,643人，3,743,679片段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时间跨度：PPG 890天，ECG 1240天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切分：按参与者80/10/10，无重叠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5029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采集与预处理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12848"/>
            <a:ext cx="4663440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PPG：60秒，64/256Hz，4通道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ECG：30秒，Lead-I，512Hz-&gt;128Hz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PPG预处理：暗电流扣除+带通+标准化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ECG预处理：内部工具+标准化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Microsoft YaHei"/>
              </a:defRPr>
            </a:pPr>
            <a:r>
              <a:t>这部分对应论文第4节与Table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Microsoft YaHei"/>
              </a:defRPr>
            </a:pPr>
            <a:r>
              <a:t>算法总流程（系统视角）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1 数据构建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95728"/>
            <a:ext cx="1737360" cy="2761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分模态切片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参与者均衡采样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82880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9659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2 数据增强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95728"/>
            <a:ext cx="1737360" cy="2761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cutout/warp/noise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PPG与ECG不同策略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9659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3 编码器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95728"/>
            <a:ext cx="1737360" cy="2761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1D-EfficientNet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256维嵌入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82880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9659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4 训练目标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395728"/>
            <a:ext cx="1737360" cy="2761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InfoNCE + KoLeo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L2归一化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1828800"/>
            <a:ext cx="1645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9" y="196596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5 动量分支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9" y="2395728"/>
            <a:ext cx="1280160" cy="2761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EMA更新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稳定训练</a:t>
            </a:r>
          </a:p>
        </p:txBody>
      </p:sp>
      <p:sp>
        <p:nvSpPr>
          <p:cNvPr id="18" name="Chevron 17"/>
          <p:cNvSpPr/>
          <p:nvPr/>
        </p:nvSpPr>
        <p:spPr>
          <a:xfrm>
            <a:off x="2834640" y="3246120"/>
            <a:ext cx="228600" cy="411480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5212080" y="3246120"/>
            <a:ext cx="228600" cy="411480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7589520" y="3246120"/>
            <a:ext cx="228600" cy="411480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9966960" y="3246120"/>
            <a:ext cx="228600" cy="411480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Microsoft YaHei"/>
              </a:defRPr>
            </a:pPr>
            <a:r>
              <a:t>可直接映射为你们算法架构图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Microsoft YaHei"/>
              </a:defRPr>
            </a:pPr>
            <a:r>
              <a:t>训练目标与关键超参数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669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目标函数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5303520" cy="138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L = InfoNCE + KoLeo正则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温度τ=0.04，KoLeo权重=0.1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优化器Adam，32×A100训练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669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设计意义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98848"/>
            <a:ext cx="530352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InfoNCE：拉近正样本、拉远负样本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KoLeo：提升嵌入分布熵，减少塌陷风险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动量分支：提升训练稳定性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645920"/>
            <a:ext cx="47548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增强策略（论文原值）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212848"/>
            <a:ext cx="4389120" cy="3584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PPG：cutout0.4 / mag-warp0.25 / noise0.25 / channel permute0.25 / time-warp0.15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ECG：cutout0.8 / mag-warp0.5 / noise0.5 / time-warp0.3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结论：ECG增强更强，因为其个体内变化更小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Microsoft YaHei"/>
              </a:defRPr>
            </a:pPr>
            <a:r>
              <a:t>第3节 + 实现细节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Microsoft YaHei"/>
              </a:defRPr>
            </a:pPr>
            <a:r>
              <a:t>关键结果：参与者级正样本对明显优于片段级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PPG（参与者级）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5029200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年龄分类AUC 0.976（片段级0.900）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年龄回归MAE 3.19（片段级6.60）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BMI分类AUC 0.918（片段级0.766）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BMI回归MAE 2.54（片段级4.05）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性别分类AUC 0.993（片段级0.870）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ECG（参与者级）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12848"/>
            <a:ext cx="5029200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年龄分类AUC 0.916（片段级0.783）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年龄回归MAE 6.33（片段级9.01）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BMI分类AUC 0.797（片段级0.734）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BMI回归MAE 3.72（片段级4.11）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性别分类AUC 0.951（片段级0.854）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Microsoft YaHei"/>
              </a:defRPr>
            </a:pPr>
            <a:r>
              <a:t>直接来自Table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Microsoft YaHei"/>
              </a:defRPr>
            </a:pPr>
            <a:r>
              <a:t>PPG 与 ECG 的方法学差异（非常关键）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74903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论文观察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3383279" cy="3675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ECG在t-SNE聚类更紧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ECG InfoNCE更低（预训练更“容易”）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ECG离散度比PPG更低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但PPG对多种健康目标预测更强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7830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212848"/>
            <a:ext cx="3108960" cy="3675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不同模态信息结构不同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同一训练配方并非最优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需要模态特异设计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对你们的启示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12848"/>
            <a:ext cx="3108960" cy="3675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PPG/ECG/BP/SpO2/体温应分模态策略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各模态独立看训练曲线与验证面板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避免“一套参数跑所有信号”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Microsoft YaHei"/>
              </a:defRPr>
            </a:pPr>
            <a:r>
              <a:t>第5.2.2节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Microsoft YaHei"/>
              </a:defRPr>
            </a:pPr>
            <a:r>
              <a:t>消融：预训练框架对比（SER）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PPG/ECG Smooth Effective 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5120640" cy="3675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Ours：104.13 / 113.82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Ours(去KoLeo)：101.29 / 108.84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SimCLR变体：98.87 / 103.65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BYOL变体：51.18 / 63.67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12848"/>
            <a:ext cx="4754879" cy="3675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本文框架整体优于SimCLR/BYOL变体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KoLeo正则确实贡献性能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无监督代理指标有价值，但不能替代临床终点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Microsoft YaHei"/>
              </a:defRPr>
            </a:pPr>
            <a:r>
              <a:t>来自Table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Microsoft YaHei"/>
              </a:defRPr>
            </a:pPr>
            <a:r>
              <a:t>消融：编码器架构与部署成本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1D-EfficientNet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3291840" cy="3675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SER：PPG 104.13 / ECG 113.82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参数量：3.3M（PPG）/2.5M（ECG）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性能-资源比优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78308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1D-ResNet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12848"/>
            <a:ext cx="3291840" cy="3675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SER：95.81 / 111.92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参数量：16.9M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更大但收益有限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64592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59" y="178308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1D-ViT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2212848"/>
            <a:ext cx="3200400" cy="3675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SER：104.89 / 114.62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参数量：7.2M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性能强但部署成本更高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Microsoft YaHei"/>
              </a:defRPr>
            </a:pPr>
            <a:r>
              <a:t>来自Table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Microsoft YaHei"/>
              </a:defRPr>
            </a:pPr>
            <a:r>
              <a:t>可直接复用的监护算法验证大框架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层1 表征质量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2377440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SER/嵌入漂移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模态训练损失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个体内外离散度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64592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78308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层2 任务质量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12848"/>
            <a:ext cx="2377440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核心指标+校准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亚组表现（年龄/性别/BMI）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阈值敏感性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8308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层3 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12848"/>
            <a:ext cx="2377440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分布偏移切片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标签缺失/偏移校正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传感器质量分层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2377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7830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层4 部署质量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212848"/>
            <a:ext cx="2011680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时延/功耗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端侧内存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上线后漂移监控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Microsoft YaHei"/>
              </a:defRPr>
            </a:pPr>
            <a:r>
              <a:t>这页建议直接纳入你们研发流程文档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Microsoft YaHei"/>
              </a:defRPr>
            </a:pPr>
            <a:r>
              <a:t>给你的团队：90天落地计划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第1阶段（1-3周）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04288"/>
            <a:ext cx="3200400" cy="3584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统一数据契约与切片规范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定义模态：ECG/PPG/BP/SpO2/体温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建立参与者级切分治理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73736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874519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第2阶段（4-7周）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04288"/>
            <a:ext cx="3200400" cy="3584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训练基础编码器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建立线性探针评估矩阵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接入亚组与偏移监控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73736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59" y="1874519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Microsoft YaHei"/>
              </a:defRPr>
            </a:pPr>
            <a:r>
              <a:t>第3阶段（8-12周）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2304288"/>
            <a:ext cx="3200400" cy="3584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接任务头与阈值策略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端侧性能画像（功耗/时延）</a:t>
            </a:r>
          </a:p>
          <a:p>
            <a:pPr>
              <a:spcAft>
                <a:spcPts val="3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小规模试点与漂移告警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Microsoft YaHei"/>
              </a:defRPr>
            </a:pPr>
            <a:r>
              <a:t>执行导向：先小闭环，再扩展多参数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结论：苹果经验可借鉴的三件事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E6F0"/>
                </a:solidFill>
                <a:latin typeface="Microsoft YaHei"/>
              </a:defRPr>
            </a:pPr>
            <a:r>
              <a:t>面向监护设备AI研发的可执行建议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500">
                <a:solidFill>
                  <a:srgbClr val="EBF2FC"/>
                </a:solidFill>
                <a:latin typeface="Microsoft YaHei"/>
              </a:defRPr>
            </a:pPr>
            <a:r>
              <a:t>先做“表征底座”，再做参数任务头，不要每个参数都从零训练</a:t>
            </a:r>
          </a:p>
          <a:p>
            <a:pPr>
              <a:spcAft>
                <a:spcPts val="600"/>
              </a:spcAft>
              <a:defRPr sz="2500">
                <a:solidFill>
                  <a:srgbClr val="EBF2FC"/>
                </a:solidFill>
                <a:latin typeface="Microsoft YaHei"/>
              </a:defRPr>
            </a:pPr>
            <a:r>
              <a:t>训练策略必须分模态定制，尤其是PPG与ECG</a:t>
            </a:r>
          </a:p>
          <a:p>
            <a:pPr>
              <a:spcAft>
                <a:spcPts val="600"/>
              </a:spcAft>
              <a:defRPr sz="2500">
                <a:solidFill>
                  <a:srgbClr val="EBF2FC"/>
                </a:solidFill>
                <a:latin typeface="Microsoft YaHei"/>
              </a:defRPr>
            </a:pPr>
            <a:r>
              <a:t>把验证体系前置：亚组、公平性、偏移、部署约束同时纳入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Microsoft YaHei"/>
              </a:defRPr>
            </a:pPr>
            <a:r>
              <a:t>Prepared for monitoring algorithm R&amp;D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