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这篇论文的重点是用单通道 PPG 做无袖带血压估计，并通过 CNN-BiLSTM-Attention 达到较低误差。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论文解决的是连续监测和可穿戴部署之间的核心矛盾。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作者希望简化传感器配置，同时维持甚至提升预测性能。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论文属于端到端方法，但强调更强时空建模和注意力机制。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作者把较大样本规模作为泛化能力提升的重要依据。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预处理不仅清洗信号，还将监督目标从波形转为窗口级数值。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这种标签设计减少了学习难度，也更贴近临床读数。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该组合是论文核心贡献。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CNN 负责把原始 PPG 压缩成可学习的局部表示。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帮助模型忽略不重要时间段，提升有效信息占比。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协议完整，但切分粒度决定结论可信度。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MAE 是主要对比指标，MSE 用于补充误差分布特性。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网络深度增加带来持续收益，表明任务需要更强时空建模。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SBP 跨折波动更大，提示其更敏感于数据分配和个体差异。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可视化支持模型有效，但需结合更严格验证判断真实泛化。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数值优势明显，但跨文献协议差异会影响可比性。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如果评估协议一致，这样的提升是有实际价值的。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论文的工程实用导向很明确。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这是影响论文可信度的最大风险点。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当前证据更支持研究可行性，而非临床就绪。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先验证评估协议，再谈架构升级，收益最大。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可穿戴落地的约束与离线论文评测不同，需要独立优化。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subject-level 复现仍有优势，这条路线非常值得持续投入。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建议围绕评估协议、可解释性、部署约束展开讨论。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Cuff-less BP 论文详细解读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论文: Cuff-less blood pressure monitoring via PPG signals using a hybrid CNN-BiLSTM model with attention</a:t>
            </a:r>
          </a:p>
          <a:p>
            <a:pPr>
              <a:defRPr sz="2400"/>
            </a:pPr>
            <a:r>
              <a:t>期刊: Scientific Reports (2025)</a:t>
            </a:r>
          </a:p>
          <a:p>
            <a:pPr>
              <a:defRPr sz="2400"/>
            </a:pPr>
            <a:r>
              <a:t>DOI: 10.1038/s41598-025-07087-2</a:t>
            </a:r>
          </a:p>
          <a:p>
            <a:pPr>
              <a:defRPr sz="2400"/>
            </a:pPr>
            <a:r>
              <a:t>核心: 单通道PPG实现SBP/DBP估计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为什么这件事重要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高血压管理需要高频、长期监测</a:t>
            </a:r>
          </a:p>
          <a:p>
            <a:pPr>
              <a:defRPr sz="2400"/>
            </a:pPr>
            <a:r>
              <a:t>袖带法准确但不连续，频繁测量体验差</a:t>
            </a:r>
          </a:p>
          <a:p>
            <a:pPr>
              <a:defRPr sz="2400"/>
            </a:pPr>
            <a:r>
              <a:t>可穿戴场景需要低负担、低侵入、可实时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输入: 单通道 PPG 序列</a:t>
            </a:r>
          </a:p>
          <a:p>
            <a:pPr>
              <a:defRPr sz="2400"/>
            </a:pPr>
            <a:r>
              <a:t>输出: 每个时间窗的 SBP 与 DBP</a:t>
            </a:r>
          </a:p>
          <a:p>
            <a:pPr>
              <a:defRPr sz="2400"/>
            </a:pPr>
            <a:r>
              <a:t>目标: 不依赖 ECG/VPG/APG 也获得高精度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相关工作脉络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路线A: 手工特征 + 传统回归</a:t>
            </a:r>
          </a:p>
          <a:p>
            <a:pPr>
              <a:defRPr sz="2400"/>
            </a:pPr>
            <a:r>
              <a:t>路线B: 端到端深度学习</a:t>
            </a:r>
          </a:p>
          <a:p>
            <a:pPr>
              <a:defRPr sz="2400"/>
            </a:pPr>
            <a:r>
              <a:t>本文定位: 单通道PPG + 混合深度模型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数据集与规模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MIMIC-II 衍生数据 (UCI)</a:t>
            </a:r>
          </a:p>
          <a:p>
            <a:pPr>
              <a:defRPr sz="2400"/>
            </a:pPr>
            <a:r>
              <a:t>原始患者数: 12,000</a:t>
            </a:r>
          </a:p>
          <a:p>
            <a:pPr>
              <a:defRPr sz="2400"/>
            </a:pPr>
            <a:r>
              <a:t>过滤后: 2,064</a:t>
            </a:r>
          </a:p>
          <a:p>
            <a:pPr>
              <a:defRPr sz="2400"/>
            </a:pPr>
            <a:r>
              <a:t>采样率: 125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预处理流程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PPG 去趋势</a:t>
            </a:r>
          </a:p>
          <a:p>
            <a:pPr>
              <a:defRPr sz="2000"/>
            </a:pPr>
            <a:r>
              <a:t>剔除 ABP&gt;200 mmHg</a:t>
            </a:r>
          </a:p>
          <a:p>
            <a:pPr>
              <a:defRPr sz="2000"/>
            </a:pPr>
            <a:r>
              <a:t>剔除记录时长&lt;8 min</a:t>
            </a:r>
          </a:p>
          <a:p>
            <a:pPr>
              <a:defRPr sz="2000"/>
            </a:pPr>
            <a:r>
              <a:t>分窗: 8.192s, overlap 75%</a:t>
            </a:r>
          </a:p>
          <a:p>
            <a:pPr>
              <a:defRPr sz="2000"/>
            </a:pPr>
            <a:r>
              <a:t>从 ABP 提取峰谷并构造监督标签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标签构造策略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每窗提取 ABP 收缩峰/舒张谷</a:t>
            </a:r>
          </a:p>
          <a:p>
            <a:pPr>
              <a:defRPr sz="2400"/>
            </a:pPr>
            <a:r>
              <a:t>分别取均值作为 SBP/DBP 标签</a:t>
            </a:r>
          </a:p>
          <a:p>
            <a:pPr>
              <a:defRPr sz="2400"/>
            </a:pPr>
            <a:r>
              <a:t>任务形态: 双回归目标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模型架构总览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3 x CNN: 局部形态特征</a:t>
            </a:r>
          </a:p>
          <a:p>
            <a:pPr>
              <a:defRPr sz="2400"/>
            </a:pPr>
            <a:r>
              <a:t>2 x BiLSTM: 双向时序依赖</a:t>
            </a:r>
          </a:p>
          <a:p>
            <a:pPr>
              <a:defRPr sz="2400"/>
            </a:pPr>
            <a:r>
              <a:t>Attention: 聚焦关键时间步</a:t>
            </a:r>
          </a:p>
          <a:p>
            <a:pPr>
              <a:defRPr sz="2400"/>
            </a:pPr>
            <a:r>
              <a:t>输出层: SBP/DBP 回归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1D 卷积提取局部波形模式</a:t>
            </a:r>
          </a:p>
          <a:p>
            <a:pPr>
              <a:defRPr sz="2400"/>
            </a:pPr>
            <a:r>
              <a:t>激活函数: ReLU</a:t>
            </a:r>
          </a:p>
          <a:p>
            <a:pPr>
              <a:defRPr sz="2400"/>
            </a:pPr>
            <a:r>
              <a:t>超参数: filters [32,64,128], kernel=3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BiLSTM + Attention 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BiLSTM 同时使用过去与未来上下文</a:t>
            </a:r>
          </a:p>
          <a:p>
            <a:pPr>
              <a:defRPr sz="2400"/>
            </a:pPr>
            <a:r>
              <a:t>双层 BiLSTM 增强时序表达</a:t>
            </a:r>
          </a:p>
          <a:p>
            <a:pPr>
              <a:defRPr sz="2400"/>
            </a:pPr>
            <a:r>
              <a:t>Attention 对关键搏动片段赋更高权重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训练与验证协议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5-fold cross-validation</a:t>
            </a:r>
          </a:p>
          <a:p>
            <a:pPr>
              <a:defRPr sz="2400"/>
            </a:pPr>
            <a:r>
              <a:t>每折 80% 训练 / 20% 测试</a:t>
            </a:r>
          </a:p>
          <a:p>
            <a:pPr>
              <a:defRPr sz="2400"/>
            </a:pPr>
            <a:r>
              <a:t>训练集内再划 10% 做验证</a:t>
            </a:r>
          </a:p>
          <a:p>
            <a:pPr>
              <a:defRPr sz="2400"/>
            </a:pPr>
            <a:r>
              <a:t>每折从头训练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评价指标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MAE: 直观反映平均误差</a:t>
            </a:r>
          </a:p>
          <a:p>
            <a:pPr>
              <a:defRPr sz="2400"/>
            </a:pPr>
            <a:r>
              <a:t>MSE: 强调大误差惩罚</a:t>
            </a:r>
          </a:p>
          <a:p>
            <a:pPr>
              <a:defRPr sz="2400"/>
            </a:pPr>
            <a:r>
              <a:t>SBP/DBP 分别报告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消融结果 (Table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1CNN+1BiLSTM+Attn: MAE 2.70 / 2.15</a:t>
            </a:r>
          </a:p>
          <a:p>
            <a:pPr>
              <a:defRPr sz="2400"/>
            </a:pPr>
            <a:r>
              <a:t>2CNN+1BiLSTM+Attn: MAE 2.22 / 1.64</a:t>
            </a:r>
          </a:p>
          <a:p>
            <a:pPr>
              <a:defRPr sz="2400"/>
            </a:pPr>
            <a:r>
              <a:t>2CNN+2BiLSTM+Attn: MAE 2.00 / 1.40</a:t>
            </a:r>
          </a:p>
          <a:p>
            <a:pPr>
              <a:defRPr sz="2400"/>
            </a:pPr>
            <a:r>
              <a:t>3CNN+2BiLSTM+Attn: MAE 1.88 / 1.34 (最佳)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五折稳定性 (Table 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SBP: MAE 1.88 ± 0.27, MSE 8.62 ± 2.15</a:t>
            </a:r>
          </a:p>
          <a:p>
            <a:pPr>
              <a:defRPr sz="2400"/>
            </a:pPr>
            <a:r>
              <a:t>DBP: MAE 1.34 ± 0.07, MSE 4.39 ± 0.49</a:t>
            </a:r>
          </a:p>
          <a:p>
            <a:pPr>
              <a:defRPr sz="2400"/>
            </a:pPr>
            <a:r>
              <a:t>DBP 波动显著小于 SBP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可视化结果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训练曲线: loss/MAE 收敛</a:t>
            </a:r>
          </a:p>
          <a:p>
            <a:pPr>
              <a:defRPr sz="2400"/>
            </a:pPr>
            <a:r>
              <a:t>散点图: 多数点贴近 y=x</a:t>
            </a:r>
          </a:p>
          <a:p>
            <a:pPr>
              <a:defRPr sz="2400"/>
            </a:pPr>
            <a:r>
              <a:t>Bland-Altman: 差值总体集中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与既有研究对比 (Table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Ours: 1.88 / 1.34</a:t>
            </a:r>
          </a:p>
          <a:p>
            <a:pPr>
              <a:defRPr sz="2400"/>
            </a:pPr>
            <a:r>
              <a:t>Tang only-PPG: 2.60 / 1.45</a:t>
            </a:r>
          </a:p>
          <a:p>
            <a:pPr>
              <a:defRPr sz="2400"/>
            </a:pPr>
            <a:r>
              <a:t>ABP-Net: 3.27 / 1.90</a:t>
            </a:r>
          </a:p>
          <a:p>
            <a:pPr>
              <a:defRPr sz="2400"/>
            </a:pPr>
            <a:r>
              <a:t>Panwar: 3.97 / 2.30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相对提升幅度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相对 Tang only-PPG: SBP -27.7%, DBP -7.6%</a:t>
            </a:r>
          </a:p>
          <a:p>
            <a:pPr>
              <a:defRPr sz="2400"/>
            </a:pPr>
            <a:r>
              <a:t>相对 ABP-Net: SBP -42.5%, DBP -29.5%</a:t>
            </a:r>
          </a:p>
          <a:p>
            <a:pPr>
              <a:defRPr sz="2400"/>
            </a:pPr>
            <a:r>
              <a:t>尤其 SBP 改进幅度较大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论文强项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单传感器路线，部署友好</a:t>
            </a:r>
          </a:p>
          <a:p>
            <a:pPr>
              <a:defRPr sz="2400"/>
            </a:pPr>
            <a:r>
              <a:t>样本规模在同类中较大</a:t>
            </a:r>
          </a:p>
          <a:p>
            <a:pPr>
              <a:defRPr sz="2400"/>
            </a:pPr>
            <a:r>
              <a:t>消融、超参、可视化报告完整</a:t>
            </a:r>
          </a:p>
          <a:p>
            <a:pPr>
              <a:defRPr sz="2400"/>
            </a:pPr>
            <a:r>
              <a:t>主结果具竞争力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关键问题1: 潜在数据泄漏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流程为切窗后 shuffle 再 5-fold</a:t>
            </a:r>
          </a:p>
          <a:p>
            <a:pPr>
              <a:defRPr sz="2400"/>
            </a:pPr>
            <a:r>
              <a:t>75% overlap 导致窗口高度相似</a:t>
            </a:r>
          </a:p>
          <a:p>
            <a:pPr>
              <a:defRPr sz="2400"/>
            </a:pPr>
            <a:r>
              <a:t>若非 subject-level 切分，可能过于乐观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关键问题2: 泛化与临床可用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数据源为 ICU, 与居家场景差异大</a:t>
            </a:r>
          </a:p>
          <a:p>
            <a:pPr>
              <a:defRPr sz="2400"/>
            </a:pPr>
            <a:r>
              <a:t>缺少跨数据库外部验证</a:t>
            </a:r>
          </a:p>
          <a:p>
            <a:pPr>
              <a:defRPr sz="2400"/>
            </a:pPr>
            <a:r>
              <a:t>AAMI/BHS 等标准对齐不足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复现实操清单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subject-level 5-fold 重评估</a:t>
            </a:r>
          </a:p>
          <a:p>
            <a:pPr>
              <a:defRPr sz="2400"/>
            </a:pPr>
            <a:r>
              <a:t>window-level vs subject-level 对照</a:t>
            </a:r>
          </a:p>
          <a:p>
            <a:pPr>
              <a:defRPr sz="2400"/>
            </a:pPr>
            <a:r>
              <a:t>固定随机种子和分割清单</a:t>
            </a:r>
          </a:p>
          <a:p>
            <a:pPr>
              <a:defRPr sz="2400"/>
            </a:pPr>
            <a:r>
              <a:t>补充分压段误差和 LoA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可穿戴落地建议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评估参数量、时延、功耗</a:t>
            </a:r>
          </a:p>
          <a:p>
            <a:pPr>
              <a:defRPr sz="2400"/>
            </a:pPr>
            <a:r>
              <a:t>尝试量化/蒸馏</a:t>
            </a:r>
          </a:p>
          <a:p>
            <a:pPr>
              <a:defRPr sz="2400"/>
            </a:pPr>
            <a:r>
              <a:t>增加运动伪迹与人群差异鲁棒性测试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最终结论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这是一篇强基线价值论文</a:t>
            </a:r>
          </a:p>
          <a:p>
            <a:pPr>
              <a:defRPr sz="2400"/>
            </a:pPr>
            <a:r>
              <a:t>结果亮眼但需严格无泄漏验证</a:t>
            </a:r>
          </a:p>
          <a:p>
            <a:pPr>
              <a:defRPr sz="2400"/>
            </a:pPr>
            <a:r>
              <a:t>建议作为高优先级复现对象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为什么 DBP 比 SBP 更稳定?</a:t>
            </a:r>
          </a:p>
          <a:p>
            <a:pPr>
              <a:defRPr sz="2400"/>
            </a:pPr>
            <a:r>
              <a:t>Attention 的独立增益有多大?</a:t>
            </a:r>
          </a:p>
          <a:p>
            <a:pPr>
              <a:defRPr sz="2400"/>
            </a:pPr>
            <a:r>
              <a:t>如何构建真实可穿戴在线评测?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论文原图附录（Fig.1-Fig.11）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以下页面插入论文原始图件，可直接在汇报中穿插使用。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Fig.1 Workflow for BP Estimation</a:t>
            </a:r>
          </a:p>
        </p:txBody>
      </p:sp>
      <p:pic>
        <p:nvPicPr>
          <p:cNvPr id="3" name="Picture 2" descr="page04_img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51615" cy="5662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Fig.2 Signal Preprocessing Pipeline</a:t>
            </a:r>
          </a:p>
        </p:txBody>
      </p:sp>
      <p:pic>
        <p:nvPicPr>
          <p:cNvPr id="3" name="Picture 2" descr="page04_img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28" y="777240"/>
            <a:ext cx="10646439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Fig.3 Original and Detrended PPG Signal</a:t>
            </a:r>
          </a:p>
        </p:txBody>
      </p:sp>
      <p:pic>
        <p:nvPicPr>
          <p:cNvPr id="3" name="Picture 2" descr="page05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20" y="777240"/>
            <a:ext cx="9405055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Fig.4 Simultaneous PPG and ABP Signals</a:t>
            </a:r>
          </a:p>
        </p:txBody>
      </p:sp>
      <p:pic>
        <p:nvPicPr>
          <p:cNvPr id="3" name="Picture 2" descr="page05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40" y="777240"/>
            <a:ext cx="9676014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Fig.5 ABP with Systolic/Diastolic Points</a:t>
            </a:r>
          </a:p>
        </p:txBody>
      </p:sp>
      <p:pic>
        <p:nvPicPr>
          <p:cNvPr id="3" name="Picture 2" descr="page06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49" y="777240"/>
            <a:ext cx="7978396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Fig.6 5-Fold Cross-Validation Diagram</a:t>
            </a:r>
          </a:p>
        </p:txBody>
      </p:sp>
      <p:pic>
        <p:nvPicPr>
          <p:cNvPr id="3" name="Picture 2" descr="page06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73" y="777240"/>
            <a:ext cx="9973548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Fig.7 Proposed Model Architecture</a:t>
            </a:r>
          </a:p>
        </p:txBody>
      </p:sp>
      <p:pic>
        <p:nvPicPr>
          <p:cNvPr id="3" name="Picture 2" descr="page08_img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51615" cy="3413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Fig.8 Train/Validation Curves</a:t>
            </a:r>
          </a:p>
        </p:txBody>
      </p:sp>
      <p:pic>
        <p:nvPicPr>
          <p:cNvPr id="3" name="Picture 2" descr="page10_img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476" y="777240"/>
            <a:ext cx="534074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Fig.9 Predicted vs Actual Scatter</a:t>
            </a:r>
          </a:p>
        </p:txBody>
      </p:sp>
      <p:pic>
        <p:nvPicPr>
          <p:cNvPr id="3" name="Picture 2" descr="page10_img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51615" cy="43522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Fig.10 Test Performance Across Folds</a:t>
            </a:r>
          </a:p>
        </p:txBody>
      </p:sp>
      <p:pic>
        <p:nvPicPr>
          <p:cNvPr id="3" name="Picture 2" descr="page11_img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616" y="777240"/>
            <a:ext cx="474246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Fig.11 Bland-Altman Plots</a:t>
            </a:r>
          </a:p>
        </p:txBody>
      </p:sp>
      <p:pic>
        <p:nvPicPr>
          <p:cNvPr id="3" name="Picture 2" descr="page12_img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46" y="777240"/>
            <a:ext cx="5339403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Mohammadi et al., Scientific Reports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